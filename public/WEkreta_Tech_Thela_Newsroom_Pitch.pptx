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🔴 LIVE BROADCAST | SPECIAL INVESTIGATION • THE DAILY MOHALLA CHRONICLE • EDITION NO.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BD5E1"/>
                </a:solidFill>
                <a:latin typeface="Arial"/>
              </a:defRPr>
            </a:pPr>
            <a:r>
              <a:t> SPECIAL REPORT: FRONT PAGE EXCLUSIVE | HACKATHON PITCH SPECIAL | NEW DELHI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1F5F9"/>
                </a:solidFill>
                <a:latin typeface="Arial"/>
              </a:defRPr>
            </a:pPr>
            <a:r>
              <a:t> 🚨 TICKER: WEkreta onboarded 10M vendors with zero typing... Leaflet OSM saves 90% mapping OPEX... 30-min Mohalla batching cuts dead-mileage by 64%... Gemini 2.5 Flash voice pipeline operational...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THE DAILY THELA: Street Pushcarts Go Phygital!</a:t>
            </a:r>
          </a:p>
          <a:p>
            <a:pPr>
              <a:defRPr sz="1400" b="1">
                <a:solidFill>
                  <a:srgbClr val="16A34A"/>
                </a:solidFill>
              </a:defRPr>
            </a:pPr>
            <a:r>
              <a:t>Anchor Intro: How AI Voice Ingestion &amp; Open-Source Maps are Bridging India's $100B Invisible Street Economy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62179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📰 LEAD STORY: The Great Mohalla Disruption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The Invisible Backbone: </a:t>
            </a:r>
            <a:r>
              <a:rPr sz="1100">
                <a:solidFill>
                  <a:srgbClr val="475569"/>
                </a:solidFill>
              </a:rPr>
              <a:t>India is powered by 10 Million street vendors (Thela wale) delivering 60%+ of urban perishables, yet remaining 100% digitally invisible.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The AI Intervention: </a:t>
            </a:r>
            <a:r>
              <a:rPr sz="1100">
                <a:solidFill>
                  <a:srgbClr val="475569"/>
                </a:solidFill>
              </a:rPr>
              <a:t>WEkreta introduces WhatsApp-First Voice onboarding — turning spoken audio into verified structured catalogs in under 600ms.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Zero-Cost Architecture: </a:t>
            </a:r>
            <a:r>
              <a:rPr sz="1100">
                <a:solidFill>
                  <a:srgbClr val="475569"/>
                </a:solidFill>
              </a:rPr>
              <a:t>Zero paid mapping API dependencies. Built with Next.js, Leaflet OpenStreetMap, Neon PostgreSQL, and Gemini 2.5 Flash.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The Anchor's Verdict: </a:t>
            </a:r>
            <a:r>
              <a:rPr sz="1100">
                <a:solidFill>
                  <a:srgbClr val="475569"/>
                </a:solidFill>
              </a:rPr>
              <a:t>"This isn't another dark-store app. This is the financial sovereignty of Bharat's street entrepreneurs."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103120"/>
            <a:ext cx="46634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⚡ NEWSROOM FLASH METRICS</a:t>
            </a:r>
          </a:p>
        </p:txBody>
      </p:sp>
      <p:pic>
        <p:nvPicPr>
          <p:cNvPr id="9" name="Picture 8" descr="WEkr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651760"/>
            <a:ext cx="4114800" cy="1005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23760" y="3840480"/>
            <a:ext cx="411480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₹0 Fee • VENDOR LISTING: Free daily operational listing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617720"/>
            <a:ext cx="411480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1.5 km • GEOFENCE CORE: 30-Min Mohalla batching radius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5394959"/>
            <a:ext cx="411480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2 Taps • ZERO TYPING: Speech recognition or 2-tap WhatsApp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🔴 LIVE BROADCAST | EXPOSÉ • THE DAILY MOHALLA CHRONICLE • EDITION NO.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BD5E1"/>
                </a:solidFill>
                <a:latin typeface="Arial"/>
              </a:defRPr>
            </a:pPr>
            <a:r>
              <a:t> SPECIAL REPORT: GROUND REALITY &amp; CRISIS DESK | HACKATHON PITCH SPECIAL | NEW DELHI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1F5F9"/>
                </a:solidFill>
                <a:latin typeface="Arial"/>
              </a:defRPr>
            </a:pPr>
            <a:r>
              <a:t> 🚨 TICKER: WEkreta onboarded 10M vendors with zero typing... Leaflet OSM saves 90% mapping OPEX... 30-min Mohalla batching cuts dead-mileage by 64%... Gemini 2.5 Flash voice pipeline operational...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SPECIAL REPORT: The $100B Invisible Street Economy</a:t>
            </a:r>
          </a:p>
          <a:p>
            <a:pPr>
              <a:defRPr sz="1300" b="1">
                <a:solidFill>
                  <a:srgbClr val="DC2626"/>
                </a:solidFill>
              </a:defRPr>
            </a:pPr>
            <a:r>
              <a:t>Investigative Findings: Why 10 Million Thelas Are Blocked by Digital Literacy &amp; Dark-Store Monopolies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🚨 FINDING #1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The Digital Literacy Wall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80%+ street vendors have low or regional literacy.</a:t>
            </a:r>
            <a:br/>
            <a:r>
              <a:t>• Complex catalog apps, forms, and English SKU typing lead to 100% bounce rate.</a:t>
            </a:r>
            <a:br/>
            <a:r>
              <a:t>• Vendors communicate exclusively via WhatsApp Voice Notes &amp; direct phone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🛰️ FINDING #2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The Telemetry Invisibility Trap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Street vendors move continuously through mohalla lanes.</a:t>
            </a:r>
            <a:br/>
            <a:r>
              <a:t>• Customers wanting fresh vegetables have zero way to know if a vendor is 100m away or 2km away.</a:t>
            </a:r>
            <a:br/>
            <a:r>
              <a:t>• Vendors waste 2.5 hours daily aimlessly calling out on streets.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💸 FINDING #3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Q-Commerce Commission Extortion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Dark-store giants charge 25-30% platform take-rates + ad spend.</a:t>
            </a:r>
            <a:br/>
            <a:r>
              <a:t>• Small vendors operating on 15% margins are completely locked out.</a:t>
            </a:r>
            <a:br/>
            <a:r>
              <a:t>• Result: Consumers pay higher prices for refrigerated warehouse stock.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🔴 LIVE BROADCAST | TECH BLUEPRINT • THE DAILY MOHALLA CHRONICLE • EDITION NO.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BD5E1"/>
                </a:solidFill>
                <a:latin typeface="Arial"/>
              </a:defRPr>
            </a:pPr>
            <a:r>
              <a:t> SPECIAL REPORT: ENTERPRISE ARCHITECTURE DESK | HACKATHON PITCH SPECIAL | NEW DELHI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1F5F9"/>
                </a:solidFill>
                <a:latin typeface="Arial"/>
              </a:defRPr>
            </a:pPr>
            <a:r>
              <a:t> 🚨 TICKER: WEkreta onboarded 10M vendors with zero typing... Leaflet OSM saves 90% mapping OPEX... 30-min Mohalla batching cuts dead-mileage by 64%... Gemini 2.5 Flash voice pipeline operational...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BLUEPRINT: Inside The 4-Layer Zero-Cost Architecture</a:t>
            </a:r>
          </a:p>
          <a:p>
            <a:pPr>
              <a:defRPr sz="1300" b="1">
                <a:solidFill>
                  <a:srgbClr val="16A34A"/>
                </a:solidFill>
              </a:defRPr>
            </a:pPr>
            <a:r>
              <a:t>How WEkreta Scales to 100,000 Pushcarts with ₹0 Mapping OPEX &amp; Sub-Second Voice AI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94415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■ LAYER 1: CLIENT &amp; ACCESS TIER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Customer PWA (Next.js 16 + Tailwind v4 + Framer Motion) | Vendor Operations Portal (Zero-Typing UI) | WhatsApp Cloud API Bot (Meta Webhook HMAC Verified)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11094415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■ LAYER 2: VOICE &amp; REAL-TIME INGESTION TIER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Continuous SpeechRecognition Loop (Web Speech API) with auto-restart on silence | Webhook Router with Argon2id auth &amp; CSRF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094415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■ LAYER 3: CORE INTELLIGENCE &amp; PROCESSING TIER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Google Gemini 2.5 Flash Wrapper (Audio/Text -&gt; Structured JSON {name, price, unit}) | 30-Min Mohalla Batching Engine (Haversine formula, R_core = 1.5km) | Exponential Demand Decay Hotspot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1094415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■ LAYER 4: STORAGE &amp; PERSISTENCE TIER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Neon Serverless PostgreSQL (Prisma 6.4 ORM, B-Tree geospatial indexes) | Cloudflare R2 / S3 Storage | Vercel Edge Global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23560"/>
            <a:ext cx="11094415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💡 WHITEBOARD DEFENSE: Zero-Cost Mapping ($0 Leaflet/OSM vs $580/1000 loads on Google Maps) + Gemini Flash @ ₹0.0003/voice note saves 94% platform OPEX!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🔴 LIVE BROADCAST | FIELD DEMO • THE DAILY MOHALLA CHRONICLE • EDITION NO. 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BD5E1"/>
                </a:solidFill>
                <a:latin typeface="Arial"/>
              </a:defRPr>
            </a:pPr>
            <a:r>
              <a:t> SPECIAL REPORT: PRODUCT INNOVATION &amp; LIVE EVIDENCE | HACKATHON PITCH SPECIAL | NEW DELHI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1F5F9"/>
                </a:solidFill>
                <a:latin typeface="Arial"/>
              </a:defRPr>
            </a:pPr>
            <a:r>
              <a:t> 🚨 TICKER: WEkreta onboarded 10M vendors with zero typing... Leaflet OSM saves 90% mapping OPEX... 30-min Mohalla batching cuts dead-mileage by 64%... Gemini 2.5 Flash voice pipeline operational...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LIVE FROM THE FIELD: 3 Groundbreaking Innovations</a:t>
            </a:r>
          </a:p>
          <a:p>
            <a:pPr>
              <a:defRPr sz="1300" b="1">
                <a:solidFill>
                  <a:srgbClr val="DC2626"/>
                </a:solidFill>
              </a:defRPr>
            </a:pPr>
            <a:r>
              <a:t>Demonstrating Real Continuous Voice AI, Live Leaflet Phygital Tracking &amp; 30-Minute Mohalla Batching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🎙️ INNOVATION 1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Continuous Speech Loop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• Browser SpeechRecognition auto-restarts in continuous loop;</a:t>
            </a:r>
            <a:br/>
            <a:r>
              <a:t>• multi-sentence quotes accumulate without silence drop-off;</a:t>
            </a:r>
            <a:br/>
            <a:r>
              <a:t>• Gemini 2.5 Flash extracts JSON prices in real time;</a:t>
            </a:r>
            <a:br/>
            <a:r>
              <a:t>• Vendor confirms with 1-tap 'Sahi Hai'.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📍 INNOVATION 2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Live Phygital OSM Map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• Real-time moving thela markers with category emojis;</a:t>
            </a:r>
            <a:br/>
            <a:r>
              <a:t>• Dead-band GPS filtering prevents jitter;</a:t>
            </a:r>
            <a:br/>
            <a:r>
              <a:t>• 15-minute inactivity telemetry auto-decay;</a:t>
            </a:r>
            <a:br/>
            <a:r>
              <a:t>• Complete customer discovery in sub-100m radius.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📦 INNOVATION 3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30-Min Mohalla Batching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• Groups orders within 1.5km geofence into 30-min cycles;</a:t>
            </a:r>
            <a:br/>
            <a:r>
              <a:t>• 100% single-vendor inventory matching;</a:t>
            </a:r>
            <a:br/>
            <a:r>
              <a:t>• Stepped greedy fallback for secondary vendors;</a:t>
            </a:r>
            <a:br/>
            <a:r>
              <a:t>• WhatsApp instant Accept/Reject buttons.</a:t>
            </a:r>
          </a:p>
        </p:txBody>
      </p:sp>
      <p:pic>
        <p:nvPicPr>
          <p:cNvPr id="10" name="Picture 9" descr="delhi_debugge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34840"/>
            <a:ext cx="722376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4434840"/>
            <a:ext cx="3639312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🎯 PRODUCTION VERIFICATION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35 Dynamic API Routes active</a:t>
            </a:r>
            <a:br/>
            <a:r>
              <a:t>• Live Neon Serverless DB Connection</a:t>
            </a:r>
            <a:br/>
            <a:r>
              <a:t>• 6/6 Batching Unit Tests Passing</a:t>
            </a:r>
            <a:br/>
            <a:r>
              <a:t>• Zero-Install PWA Mobile Friendly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🔴 LIVE BROADCAST | FINANCIAL BULLETIN • THE DAILY MOHALLA CHRONICLE • EDITION NO. 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BD5E1"/>
                </a:solidFill>
                <a:latin typeface="Arial"/>
              </a:defRPr>
            </a:pPr>
            <a:r>
              <a:t> SPECIAL REPORT: UNIT ECONOMICS &amp; PRICING DESK | HACKATHON PITCH SPECIAL | NEW DELHI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1F5F9"/>
                </a:solidFill>
                <a:latin typeface="Arial"/>
              </a:defRPr>
            </a:pPr>
            <a:r>
              <a:t> 🚨 TICKER: WEkreta onboarded 10M vendors with zero typing... Leaflet OSM saves 90% mapping OPEX... 30-min Mohalla batching cuts dead-mileage by 64%... Gemini 2.5 Flash voice pipeline operational...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FINANCIAL WIRE: Disruptive Street Economics</a:t>
            </a:r>
          </a:p>
          <a:p>
            <a:pPr>
              <a:defRPr sz="1300" b="1">
                <a:solidFill>
                  <a:srgbClr val="16A34A"/>
                </a:solidFill>
              </a:defRPr>
            </a:pPr>
            <a:r>
              <a:t>The Calibrated Revenue Model: 5% Flat + 7% Advance Pre-Order Discount vs Q-Commerce Extortion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📊 UNIT PRICING BREAKDOWN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Vendor Side (Zero Fee): </a:t>
            </a:r>
            <a:r>
              <a:rPr sz="1100">
                <a:solidFill>
                  <a:srgbClr val="475569"/>
                </a:solidFill>
              </a:rPr>
              <a:t>100% Free daily listing &amp; order receipt. Zero onboarding fees. Compare to 25-30% platform cuts on Swiggy/Zepto.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Consumer Flat Convenience (5%): </a:t>
            </a:r>
            <a:r>
              <a:rPr sz="1100">
                <a:solidFill>
                  <a:srgbClr val="475569"/>
                </a:solidFill>
              </a:rPr>
              <a:t>Flat 5% convenience fee on on-demand delivery (e.g. ₹15 on a ₹300 cart). Transparent &amp; far lower than dark-store packaging + surge charges.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Advance Pre-Order Incentive (7% Discount): </a:t>
            </a:r>
            <a:r>
              <a:rPr sz="1100">
                <a:solidFill>
                  <a:srgbClr val="475569"/>
                </a:solidFill>
              </a:rPr>
              <a:t>Ordering fresh vegetables 1 day in advance unlocks 7% discount, stabilizing morning bulk procurement for vendors.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Phase 2 Mandi Wholesale Pooling: </a:t>
            </a:r>
            <a:r>
              <a:rPr sz="1100">
                <a:solidFill>
                  <a:srgbClr val="475569"/>
                </a:solidFill>
              </a:rPr>
              <a:t>[COMING SOON] Collective wholesale purchasing power directly from Azadpur Mandi, saving vendors an additional 12-15% on procurement.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011680"/>
            <a:ext cx="46634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⚔️ HEAD-TO-HEAD ECONOMICS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▸ Average Order Value (AOV): </a:t>
            </a:r>
            <a:r>
              <a:rPr b="1" sz="1150">
                <a:solidFill>
                  <a:srgbClr val="16A34A"/>
                </a:solidFill>
              </a:rPr>
              <a:t>₹300 Per Household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▸ Gross Take Rate: </a:t>
            </a:r>
            <a:r>
              <a:rPr b="1" sz="1150">
                <a:solidFill>
                  <a:srgbClr val="16A34A"/>
                </a:solidFill>
              </a:rPr>
              <a:t>5% Convenience = ₹15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▸ Software Tech Cost per Order: </a:t>
            </a:r>
            <a:r>
              <a:rPr b="1" sz="1150">
                <a:solidFill>
                  <a:srgbClr val="16A34A"/>
                </a:solidFill>
              </a:rPr>
              <a:t>₹0.0003 (Gemini 2.5 Flash)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▸ Platform Software Margin: </a:t>
            </a:r>
            <a:r>
              <a:rPr b="1" sz="1150">
                <a:solidFill>
                  <a:srgbClr val="16A34A"/>
                </a:solidFill>
              </a:rPr>
              <a:t>99.8% Gross Software Margin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▸ Vendor Income Increase: </a:t>
            </a:r>
            <a:r>
              <a:rPr b="1" sz="1150">
                <a:solidFill>
                  <a:srgbClr val="16A34A"/>
                </a:solidFill>
              </a:rPr>
              <a:t>+35% to 40% Daily Income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▸ Consumer Vegetable Freshness: </a:t>
            </a:r>
            <a:r>
              <a:rPr b="1" sz="1150">
                <a:solidFill>
                  <a:srgbClr val="16A34A"/>
                </a:solidFill>
              </a:rPr>
              <a:t>Direct from Cart (0 Warehouse Days)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 🔴 LIVE BROADCAST | SPECIAL REEL • THE DAILY MOHALLA CHRONICLE • EDITION NO. 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BD5E1"/>
                </a:solidFill>
                <a:latin typeface="Arial"/>
              </a:defRPr>
            </a:pPr>
            <a:r>
              <a:t> SPECIAL REPORT: EDITORIAL BOARD &amp; BLOOPER DESK | HACKATHON PITCH SPECIAL | NEW DELHI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1F5F9"/>
                </a:solidFill>
                <a:latin typeface="Arial"/>
              </a:defRPr>
            </a:pPr>
            <a:r>
              <a:t> 🚨 TICKER: WEkreta onboarded 10M vendors with zero typing... Leaflet OSM saves 90% mapping OPEX... 30-min Mohalla batching cuts dead-mileage by 64%... Gemini 2.5 Flash voice pipeline operational...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THE FINAL EDITORIAL: From Antarctica To 10M Thelas</a:t>
            </a:r>
          </a:p>
          <a:p>
            <a:pPr>
              <a:defRPr sz="1300" b="1">
                <a:solidFill>
                  <a:srgbClr val="DC2626"/>
                </a:solidFill>
              </a:defRPr>
            </a:pPr>
            <a:r>
              <a:t>The Legendary Hackathon Blooper, Engineering Resilience &amp; The Road to National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217920" cy="42976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🐧 THE HACKATHON BLOOPER OF THE YEAR!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"Antarctica Me Dhaniya Bechta Thela (Leaflet World Wrap Bug)"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The Incident: </a:t>
            </a:r>
            <a:r>
              <a:rPr sz="1050">
                <a:solidFill>
                  <a:srgbClr val="475569"/>
                </a:solidFill>
              </a:rPr>
              <a:t>A missing `noWrap: true` on Leaflet tiles caused a coordinate float overflow during pan testing. Ramesh Bhaiya's cart teleported 12,450 km to the South Pole (-75.25° S)!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The Punchline: </a:t>
            </a:r>
            <a:r>
              <a:rPr sz="1050">
                <a:solidFill>
                  <a:srgbClr val="475569"/>
                </a:solidFill>
              </a:rPr>
              <a:t>"Bhaiya penguins ko Dhaniya-Mirchi free doge ya delivery charge lagega?" 🧊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172A"/>
                </a:solidFill>
              </a:rPr>
              <a:t>• The Engineering Fix: </a:t>
            </a:r>
            <a:r>
              <a:rPr sz="1050">
                <a:solidFill>
                  <a:srgbClr val="475569"/>
                </a:solidFill>
              </a:rPr>
              <a:t>Enforced `noWrap: true` on OpenStreetMap tile layers + strict Delhi NCR bounding box geofencing.</a:t>
            </a:r>
          </a:p>
        </p:txBody>
      </p:sp>
      <p:pic>
        <p:nvPicPr>
          <p:cNvPr id="8" name="Picture 7" descr="antarctica_bug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63440"/>
            <a:ext cx="5669280" cy="1463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49440" y="2011680"/>
            <a:ext cx="46634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🎙️ FINAL BROADCAST SIGN-OFF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6A34A"/>
                </a:solidFill>
              </a:rPr>
              <a:t>✔ Scalability Beyond Delhi: </a:t>
            </a:r>
            <a:r>
              <a:rPr sz="1050">
                <a:solidFill>
                  <a:srgbClr val="475569"/>
                </a:solidFill>
              </a:rPr>
              <a:t>PostGIS GiST spatial indexing + Redis GEO RAM buffers tested to handle 100,000 concurrent pushcarts across Tier 1 &amp; 2 cities.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6A34A"/>
                </a:solidFill>
              </a:rPr>
              <a:t>✔ Real Impact on Bharat: </a:t>
            </a:r>
            <a:r>
              <a:rPr sz="1050">
                <a:solidFill>
                  <a:srgbClr val="475569"/>
                </a:solidFill>
              </a:rPr>
              <a:t>Empowering the unorganized workforce with cutting-edge AI — without forcing them to change how they talk or work.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6A34A"/>
                </a:solidFill>
              </a:rPr>
              <a:t>✔ The Whiteboard Summary: </a:t>
            </a:r>
            <a:r>
              <a:rPr sz="1050">
                <a:solidFill>
                  <a:srgbClr val="475569"/>
                </a:solidFill>
              </a:rPr>
              <a:t>Zero paid API locks, zero typing barriers, and mathematically optimal 30-min Mohalla batching.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C2626"/>
                </a:solidFill>
              </a:rPr>
              <a:t>✔ Anchor Sign-Off: </a:t>
            </a:r>
            <a:r>
              <a:rPr sz="1050">
                <a:solidFill>
                  <a:srgbClr val="475569"/>
                </a:solidFill>
              </a:rPr>
              <a:t>"This is WEkreta News, reporting live from the street lanes of New Delhi. Bridging the gap, one thela at a time. Back to the judges!"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