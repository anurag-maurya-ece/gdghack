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 Italics" charset="1" panose="00000500000000000000"/>
      <p:regular r:id="rId13"/>
    </p:embeddedFont>
    <p:embeddedFont>
      <p:font typeface="Pattanakarn Expanded" charset="1" panose="00000000000000000000"/>
      <p:regular r:id="rId14"/>
    </p:embeddedFont>
    <p:embeddedFont>
      <p:font typeface="Pattanakarn Expanded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9.jpe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jpeg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15.jpe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2357608" y="8728363"/>
            <a:ext cx="9471479" cy="672812"/>
            <a:chOff x="0" y="0"/>
            <a:chExt cx="4385666" cy="311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5666" cy="311538"/>
            </a:xfrm>
            <a:custGeom>
              <a:avLst/>
              <a:gdLst/>
              <a:ahLst/>
              <a:cxnLst/>
              <a:rect r="r" b="b" t="t" l="l"/>
              <a:pathLst>
                <a:path h="311538" w="4385666">
                  <a:moveTo>
                    <a:pt x="203200" y="0"/>
                  </a:moveTo>
                  <a:lnTo>
                    <a:pt x="4385666" y="0"/>
                  </a:lnTo>
                  <a:lnTo>
                    <a:pt x="4182466" y="311538"/>
                  </a:lnTo>
                  <a:lnTo>
                    <a:pt x="0" y="3115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000">
                    <a:alpha val="50000"/>
                  </a:srgbClr>
                </a:gs>
                <a:gs pos="50000">
                  <a:srgbClr val="FF0000">
                    <a:alpha val="50000"/>
                  </a:srgbClr>
                </a:gs>
                <a:gs pos="100000">
                  <a:srgbClr val="2200F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182466" cy="34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3216577" y="4019059"/>
            <a:ext cx="12068514" cy="2615602"/>
            <a:chOff x="0" y="0"/>
            <a:chExt cx="3178539" cy="6888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8539" cy="688883"/>
            </a:xfrm>
            <a:custGeom>
              <a:avLst/>
              <a:gdLst/>
              <a:ahLst/>
              <a:cxnLst/>
              <a:rect r="r" b="b" t="t" l="l"/>
              <a:pathLst>
                <a:path h="688883" w="3178539">
                  <a:moveTo>
                    <a:pt x="203200" y="0"/>
                  </a:moveTo>
                  <a:lnTo>
                    <a:pt x="3178539" y="0"/>
                  </a:lnTo>
                  <a:lnTo>
                    <a:pt x="2975339" y="688883"/>
                  </a:lnTo>
                  <a:lnTo>
                    <a:pt x="0" y="68888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975339" cy="72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5752" y="3705307"/>
            <a:ext cx="12294851" cy="2663477"/>
            <a:chOff x="0" y="0"/>
            <a:chExt cx="3238150" cy="701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8150" cy="701492"/>
            </a:xfrm>
            <a:custGeom>
              <a:avLst/>
              <a:gdLst/>
              <a:ahLst/>
              <a:cxnLst/>
              <a:rect r="r" b="b" t="t" l="l"/>
              <a:pathLst>
                <a:path h="701492" w="3238150">
                  <a:moveTo>
                    <a:pt x="203200" y="0"/>
                  </a:moveTo>
                  <a:lnTo>
                    <a:pt x="3238150" y="0"/>
                  </a:lnTo>
                  <a:lnTo>
                    <a:pt x="3034950" y="701492"/>
                  </a:lnTo>
                  <a:lnTo>
                    <a:pt x="0" y="70149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3034950" cy="739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467324" y="3695946"/>
            <a:ext cx="1087616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NEWS REPORT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32486" y="-186889"/>
            <a:ext cx="11649863" cy="672812"/>
            <a:chOff x="0" y="0"/>
            <a:chExt cx="5394343" cy="3115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4343" cy="311538"/>
            </a:xfrm>
            <a:custGeom>
              <a:avLst/>
              <a:gdLst/>
              <a:ahLst/>
              <a:cxnLst/>
              <a:rect r="r" b="b" t="t" l="l"/>
              <a:pathLst>
                <a:path h="311538" w="5394343">
                  <a:moveTo>
                    <a:pt x="203200" y="0"/>
                  </a:moveTo>
                  <a:lnTo>
                    <a:pt x="5394343" y="0"/>
                  </a:lnTo>
                  <a:lnTo>
                    <a:pt x="5191143" y="311538"/>
                  </a:lnTo>
                  <a:lnTo>
                    <a:pt x="0" y="3115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000">
                    <a:alpha val="50000"/>
                  </a:srgbClr>
                </a:gs>
                <a:gs pos="50000">
                  <a:srgbClr val="FF0000">
                    <a:alpha val="50000"/>
                  </a:srgbClr>
                </a:gs>
                <a:gs pos="100000">
                  <a:srgbClr val="2200F1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5191143" cy="34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40646" y="6166478"/>
            <a:ext cx="2371526" cy="756498"/>
            <a:chOff x="0" y="0"/>
            <a:chExt cx="855634" cy="272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5634" cy="272940"/>
            </a:xfrm>
            <a:custGeom>
              <a:avLst/>
              <a:gdLst/>
              <a:ahLst/>
              <a:cxnLst/>
              <a:rect r="r" b="b" t="t" l="l"/>
              <a:pathLst>
                <a:path h="272940" w="855634">
                  <a:moveTo>
                    <a:pt x="203200" y="0"/>
                  </a:moveTo>
                  <a:lnTo>
                    <a:pt x="855634" y="0"/>
                  </a:lnTo>
                  <a:lnTo>
                    <a:pt x="652434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652434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59884" y="6404039"/>
            <a:ext cx="230623" cy="23062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76218" y="6166478"/>
            <a:ext cx="1600789" cy="756498"/>
            <a:chOff x="0" y="0"/>
            <a:chExt cx="577556" cy="272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033316" y="6166478"/>
            <a:ext cx="1600789" cy="756498"/>
            <a:chOff x="0" y="0"/>
            <a:chExt cx="577556" cy="27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703622" y="3244002"/>
            <a:ext cx="4239734" cy="756498"/>
            <a:chOff x="0" y="0"/>
            <a:chExt cx="1529674" cy="27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9674" cy="272940"/>
            </a:xfrm>
            <a:custGeom>
              <a:avLst/>
              <a:gdLst/>
              <a:ahLst/>
              <a:cxnLst/>
              <a:rect r="r" b="b" t="t" l="l"/>
              <a:pathLst>
                <a:path h="272940" w="1529674">
                  <a:moveTo>
                    <a:pt x="203200" y="0"/>
                  </a:moveTo>
                  <a:lnTo>
                    <a:pt x="1529674" y="0"/>
                  </a:lnTo>
                  <a:lnTo>
                    <a:pt x="1326474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101600" y="-38100"/>
              <a:ext cx="1326474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0516" y="3244002"/>
            <a:ext cx="1600789" cy="756498"/>
            <a:chOff x="0" y="0"/>
            <a:chExt cx="577556" cy="2729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7613" y="3244002"/>
            <a:ext cx="1600789" cy="756498"/>
            <a:chOff x="0" y="0"/>
            <a:chExt cx="577556" cy="2729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028700" y="1034868"/>
            <a:ext cx="323763" cy="505879"/>
          </a:xfrm>
          <a:custGeom>
            <a:avLst/>
            <a:gdLst/>
            <a:ahLst/>
            <a:cxnLst/>
            <a:rect r="r" b="b" t="t" l="l"/>
            <a:pathLst>
              <a:path h="505879" w="323763">
                <a:moveTo>
                  <a:pt x="0" y="0"/>
                </a:moveTo>
                <a:lnTo>
                  <a:pt x="323763" y="0"/>
                </a:lnTo>
                <a:lnTo>
                  <a:pt x="323763" y="505879"/>
                </a:lnTo>
                <a:lnTo>
                  <a:pt x="0" y="505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2" id="42"/>
          <p:cNvSpPr txBox="true"/>
          <p:nvPr/>
        </p:nvSpPr>
        <p:spPr>
          <a:xfrm rot="0">
            <a:off x="13665584" y="6169180"/>
            <a:ext cx="891833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0200"/>
                </a:solidFill>
                <a:latin typeface="Anton Italics"/>
                <a:ea typeface="Anton Italics"/>
                <a:cs typeface="Anton Italics"/>
                <a:sym typeface="Anton Italics"/>
              </a:rPr>
              <a:t>LIVE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48008" y="1039394"/>
            <a:ext cx="2313993" cy="514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b="1">
                <a:solidFill>
                  <a:srgbClr val="FFFFFF"/>
                </a:solidFill>
              </a:rPr>
              <a:t>WEkreta / Tech Thela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186252" y="3246705"/>
            <a:ext cx="3274475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0200"/>
                </a:solidFill>
                <a:latin typeface="Anton Italics"/>
                <a:ea typeface="Anton Italics"/>
                <a:cs typeface="Anton Italics"/>
                <a:sym typeface="Anton Italics"/>
              </a:rPr>
              <a:t>BREAKING NEWS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2738" y="8780678"/>
            <a:ext cx="5788834" cy="52055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82"/>
              </a:lnSpc>
            </a:pPr>
            <a:r>
              <a:rPr sz="1800">
                <a:solidFill>
                  <a:srgbClr val="FFFFFF"/>
                </a:solidFill>
              </a:rPr>
              <a:t>GDG Hackathon 2026 • "Bridge The Gap"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352463" y="1047865"/>
            <a:ext cx="323763" cy="505879"/>
          </a:xfrm>
          <a:custGeom>
            <a:avLst/>
            <a:gdLst/>
            <a:ahLst/>
            <a:cxnLst/>
            <a:rect r="r" b="b" t="t" l="l"/>
            <a:pathLst>
              <a:path h="505879" w="323763">
                <a:moveTo>
                  <a:pt x="0" y="0"/>
                </a:moveTo>
                <a:lnTo>
                  <a:pt x="323762" y="0"/>
                </a:lnTo>
                <a:lnTo>
                  <a:pt x="323762" y="505879"/>
                </a:lnTo>
                <a:lnTo>
                  <a:pt x="0" y="505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7" id="47"/>
          <p:cNvSpPr/>
          <p:nvPr/>
        </p:nvSpPr>
        <p:spPr>
          <a:xfrm flipH="false" flipV="false" rot="0">
            <a:off x="1676225" y="1060862"/>
            <a:ext cx="323763" cy="505879"/>
          </a:xfrm>
          <a:custGeom>
            <a:avLst/>
            <a:gdLst/>
            <a:ahLst/>
            <a:cxnLst/>
            <a:rect r="r" b="b" t="t" l="l"/>
            <a:pathLst>
              <a:path h="505879" w="323763">
                <a:moveTo>
                  <a:pt x="0" y="0"/>
                </a:moveTo>
                <a:lnTo>
                  <a:pt x="323763" y="0"/>
                </a:lnTo>
                <a:lnTo>
                  <a:pt x="323763" y="505879"/>
                </a:lnTo>
                <a:lnTo>
                  <a:pt x="0" y="505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pic>
        <p:nvPicPr>
          <p:cNvPr id="48" name="Picture 47" descr="WEkre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8720" y="731520"/>
            <a:ext cx="4572000" cy="118872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645920" y="6766560"/>
            <a:ext cx="14996159" cy="1188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AI-POWERED PHYGITAL COMMERCE FOR INDIA'S 10 MILLION STREET PUSHCARTS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t>Voice-First WhatsApp AI (Zero Typing) • 30-Min Mohalla Batching • Real-Time OpenStreetMap Telemetry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7402410" y="-1072508"/>
            <a:ext cx="13527655" cy="11383520"/>
            <a:chOff x="0" y="0"/>
            <a:chExt cx="1110957" cy="934870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1110957" cy="934870"/>
            </a:xfrm>
            <a:custGeom>
              <a:avLst/>
              <a:gdLst/>
              <a:ahLst/>
              <a:cxnLst/>
              <a:rect r="r" b="b" t="t" l="l"/>
              <a:pathLst>
                <a:path h="934870" w="1110957">
                  <a:moveTo>
                    <a:pt x="203200" y="934870"/>
                  </a:moveTo>
                  <a:lnTo>
                    <a:pt x="1110957" y="934870"/>
                  </a:lnTo>
                  <a:lnTo>
                    <a:pt x="907757" y="0"/>
                  </a:lnTo>
                  <a:lnTo>
                    <a:pt x="0" y="0"/>
                  </a:lnTo>
                  <a:lnTo>
                    <a:pt x="203200" y="934870"/>
                  </a:lnTo>
                  <a:close/>
                </a:path>
              </a:pathLst>
            </a:custGeom>
            <a:blipFill>
              <a:blip r:embed="rId5"/>
              <a:stretch>
                <a:fillRect l="-24469" t="0" r="-24469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233187" y="2002610"/>
            <a:ext cx="6007052" cy="1866752"/>
            <a:chOff x="0" y="0"/>
            <a:chExt cx="2442263" cy="7589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2263" cy="758958"/>
            </a:xfrm>
            <a:custGeom>
              <a:avLst/>
              <a:gdLst/>
              <a:ahLst/>
              <a:cxnLst/>
              <a:rect r="r" b="b" t="t" l="l"/>
              <a:pathLst>
                <a:path h="758958" w="2442263">
                  <a:moveTo>
                    <a:pt x="203200" y="0"/>
                  </a:moveTo>
                  <a:lnTo>
                    <a:pt x="2442263" y="0"/>
                  </a:lnTo>
                  <a:lnTo>
                    <a:pt x="2239063" y="758958"/>
                  </a:lnTo>
                  <a:lnTo>
                    <a:pt x="0" y="75895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2239063" cy="79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778685"/>
            <a:ext cx="6119710" cy="1900920"/>
            <a:chOff x="0" y="0"/>
            <a:chExt cx="2488066" cy="7728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88066" cy="772849"/>
            </a:xfrm>
            <a:custGeom>
              <a:avLst/>
              <a:gdLst/>
              <a:ahLst/>
              <a:cxnLst/>
              <a:rect r="r" b="b" t="t" l="l"/>
              <a:pathLst>
                <a:path h="772849" w="2488066">
                  <a:moveTo>
                    <a:pt x="203200" y="0"/>
                  </a:moveTo>
                  <a:lnTo>
                    <a:pt x="2488066" y="0"/>
                  </a:lnTo>
                  <a:lnTo>
                    <a:pt x="2284866" y="772849"/>
                  </a:lnTo>
                  <a:lnTo>
                    <a:pt x="0" y="772849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284866" cy="810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57995" y="1893462"/>
            <a:ext cx="5413565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03"/>
              </a:lnSpc>
            </a:pPr>
            <a:r>
              <a:rPr lang="en-US" sz="9717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THE NEWS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375443"/>
            <a:ext cx="5788834" cy="9525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1">
                <a:solidFill>
                  <a:srgbClr val="DC2626"/>
                </a:solidFill>
              </a:rPr>
              <a:t>2 CRITICAL GAPS IN INDIA'S $100B STREET ECONOMY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532120"/>
            <a:ext cx="6261421" cy="2743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400">
                <a:solidFill>
                  <a:srgbClr val="0F172A"/>
                </a:solidFill>
              </a:rPr>
              <a:t>Why choose the convenience of a click or the confidence of physical touch when shopping can offer both? In a world moving to 10-minute dark stores, 10 million street thelas shouldn't be left behind.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89611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🛑 GAP #1: THE DIGITAL LITERACY &amp; TYPING WALL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F172A"/>
                </a:solidFill>
              </a:rPr>
              <a:t>• Zero Typing Capability: </a:t>
            </a:r>
            <a:r>
              <a:rPr sz="1100">
                <a:solidFill>
                  <a:srgbClr val="334155"/>
                </a:solidFill>
              </a:rPr>
              <a:t>80%+ street vendors have low or regional literacy; complex seller apps with forms and English SKUs cause a 100% bounce rate.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F172A"/>
                </a:solidFill>
              </a:rPr>
              <a:t>• Voice-Only Communication: </a:t>
            </a:r>
            <a:r>
              <a:rPr sz="1100">
                <a:solidFill>
                  <a:srgbClr val="334155"/>
                </a:solidFill>
              </a:rPr>
              <a:t>Vendors operate exclusively through WhatsApp voice notes and phone calls.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F172A"/>
                </a:solidFill>
              </a:rPr>
              <a:t>• Extortionate Take-Rates: </a:t>
            </a:r>
            <a:r>
              <a:rPr sz="1100">
                <a:solidFill>
                  <a:srgbClr val="334155"/>
                </a:solidFill>
              </a:rPr>
              <a:t>Dark-store apps (Zepto/Blinkit) charge 25-30% commissions, completely locking out small street vendors operating on 12-15% margins.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212080"/>
            <a:ext cx="89611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🛰️ GAP #2: THE TELEMETRY INVISIBILITY TRAP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F172A"/>
                </a:solidFill>
              </a:rPr>
              <a:t>• Moving Carts are Invisible: </a:t>
            </a:r>
            <a:r>
              <a:rPr sz="1100">
                <a:solidFill>
                  <a:srgbClr val="334155"/>
                </a:solidFill>
              </a:rPr>
              <a:t>Customers wanting fresh vegetables have no way to know if a thela is 50 meters away or 2 kilometers away.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F172A"/>
                </a:solidFill>
              </a:rPr>
              <a:t>• 2.5 Hours Lost Daily: </a:t>
            </a:r>
            <a:r>
              <a:rPr sz="1100">
                <a:solidFill>
                  <a:srgbClr val="334155"/>
                </a:solidFill>
              </a:rPr>
              <a:t>Vendors waste hours aimlessly calling out in residential lanes hoping someone will buy before vegetables spoil.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F172A"/>
                </a:solidFill>
              </a:rPr>
              <a:t>• Zero Demand Forecasting: </a:t>
            </a:r>
            <a:r>
              <a:rPr sz="1100">
                <a:solidFill>
                  <a:srgbClr val="334155"/>
                </a:solidFill>
              </a:rPr>
              <a:t>Vendors have no intelligence on which street or college gate has peak demand right 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8686800"/>
            <a:ext cx="15983712" cy="822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💡 THE WEKRETA SOLUTION: Ambient WhatsApp Voice Ingestion (Zero-Typing) + Live OpenStreetMap Telemetry + 30-Min Mohalla Batching!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5057250" y="2148519"/>
            <a:ext cx="8658754" cy="1866752"/>
            <a:chOff x="0" y="0"/>
            <a:chExt cx="3520355" cy="7589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20355" cy="758958"/>
            </a:xfrm>
            <a:custGeom>
              <a:avLst/>
              <a:gdLst/>
              <a:ahLst/>
              <a:cxnLst/>
              <a:rect r="r" b="b" t="t" l="l"/>
              <a:pathLst>
                <a:path h="758958" w="3520355">
                  <a:moveTo>
                    <a:pt x="203200" y="0"/>
                  </a:moveTo>
                  <a:lnTo>
                    <a:pt x="3520355" y="0"/>
                  </a:lnTo>
                  <a:lnTo>
                    <a:pt x="3317155" y="758958"/>
                  </a:lnTo>
                  <a:lnTo>
                    <a:pt x="0" y="75895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3317155" cy="79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62496" y="1924594"/>
            <a:ext cx="8821143" cy="1900920"/>
            <a:chOff x="0" y="0"/>
            <a:chExt cx="3586376" cy="7728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86376" cy="772849"/>
            </a:xfrm>
            <a:custGeom>
              <a:avLst/>
              <a:gdLst/>
              <a:ahLst/>
              <a:cxnLst/>
              <a:rect r="r" b="b" t="t" l="l"/>
              <a:pathLst>
                <a:path h="772849" w="3586376">
                  <a:moveTo>
                    <a:pt x="203200" y="0"/>
                  </a:moveTo>
                  <a:lnTo>
                    <a:pt x="3586376" y="0"/>
                  </a:lnTo>
                  <a:lnTo>
                    <a:pt x="3383176" y="772849"/>
                  </a:lnTo>
                  <a:lnTo>
                    <a:pt x="0" y="772849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3383176" cy="810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979589" y="1987437"/>
            <a:ext cx="8384573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03"/>
              </a:lnSpc>
            </a:pPr>
            <a:r>
              <a:rPr lang="en-US" sz="9717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KEY QUESTIONS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967355" y="4777271"/>
            <a:ext cx="5884238" cy="821509"/>
            <a:chOff x="0" y="0"/>
            <a:chExt cx="2392331" cy="3339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92331" cy="333997"/>
            </a:xfrm>
            <a:custGeom>
              <a:avLst/>
              <a:gdLst/>
              <a:ahLst/>
              <a:cxnLst/>
              <a:rect r="r" b="b" t="t" l="l"/>
              <a:pathLst>
                <a:path h="333997" w="2392331">
                  <a:moveTo>
                    <a:pt x="203200" y="0"/>
                  </a:moveTo>
                  <a:lnTo>
                    <a:pt x="2392331" y="0"/>
                  </a:lnTo>
                  <a:lnTo>
                    <a:pt x="2189131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89131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4872" y="4777271"/>
            <a:ext cx="2918455" cy="821509"/>
            <a:chOff x="0" y="0"/>
            <a:chExt cx="1186544" cy="3339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6545" cy="333997"/>
            </a:xfrm>
            <a:custGeom>
              <a:avLst/>
              <a:gdLst/>
              <a:ahLst/>
              <a:cxnLst/>
              <a:rect r="r" b="b" t="t" l="l"/>
              <a:pathLst>
                <a:path h="333997" w="1186545">
                  <a:moveTo>
                    <a:pt x="203200" y="0"/>
                  </a:moveTo>
                  <a:lnTo>
                    <a:pt x="1186545" y="0"/>
                  </a:lnTo>
                  <a:lnTo>
                    <a:pt x="98334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983344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48116" y="4812479"/>
            <a:ext cx="2120730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WHO?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65934" y="5898712"/>
            <a:ext cx="5884238" cy="821509"/>
            <a:chOff x="0" y="0"/>
            <a:chExt cx="2392331" cy="3339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92331" cy="333997"/>
            </a:xfrm>
            <a:custGeom>
              <a:avLst/>
              <a:gdLst/>
              <a:ahLst/>
              <a:cxnLst/>
              <a:rect r="r" b="b" t="t" l="l"/>
              <a:pathLst>
                <a:path h="333997" w="2392331">
                  <a:moveTo>
                    <a:pt x="203200" y="0"/>
                  </a:moveTo>
                  <a:lnTo>
                    <a:pt x="2392331" y="0"/>
                  </a:lnTo>
                  <a:lnTo>
                    <a:pt x="2189131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2189131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3450" y="5898712"/>
            <a:ext cx="2918455" cy="821509"/>
            <a:chOff x="0" y="0"/>
            <a:chExt cx="1186544" cy="3339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6545" cy="333997"/>
            </a:xfrm>
            <a:custGeom>
              <a:avLst/>
              <a:gdLst/>
              <a:ahLst/>
              <a:cxnLst/>
              <a:rect r="r" b="b" t="t" l="l"/>
              <a:pathLst>
                <a:path h="333997" w="1186545">
                  <a:moveTo>
                    <a:pt x="203200" y="0"/>
                  </a:moveTo>
                  <a:lnTo>
                    <a:pt x="1186545" y="0"/>
                  </a:lnTo>
                  <a:lnTo>
                    <a:pt x="98334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983344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46694" y="5933920"/>
            <a:ext cx="2120730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WHAT?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164512" y="7020153"/>
            <a:ext cx="5884238" cy="821509"/>
            <a:chOff x="0" y="0"/>
            <a:chExt cx="2392331" cy="3339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92331" cy="333997"/>
            </a:xfrm>
            <a:custGeom>
              <a:avLst/>
              <a:gdLst/>
              <a:ahLst/>
              <a:cxnLst/>
              <a:rect r="r" b="b" t="t" l="l"/>
              <a:pathLst>
                <a:path h="333997" w="2392331">
                  <a:moveTo>
                    <a:pt x="203200" y="0"/>
                  </a:moveTo>
                  <a:lnTo>
                    <a:pt x="2392331" y="0"/>
                  </a:lnTo>
                  <a:lnTo>
                    <a:pt x="2189131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38100"/>
              <a:ext cx="2189131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2028" y="7020153"/>
            <a:ext cx="2918455" cy="821509"/>
            <a:chOff x="0" y="0"/>
            <a:chExt cx="1186544" cy="3339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6545" cy="333997"/>
            </a:xfrm>
            <a:custGeom>
              <a:avLst/>
              <a:gdLst/>
              <a:ahLst/>
              <a:cxnLst/>
              <a:rect r="r" b="b" t="t" l="l"/>
              <a:pathLst>
                <a:path h="333997" w="1186545">
                  <a:moveTo>
                    <a:pt x="203200" y="0"/>
                  </a:moveTo>
                  <a:lnTo>
                    <a:pt x="1186545" y="0"/>
                  </a:lnTo>
                  <a:lnTo>
                    <a:pt x="98334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38100"/>
              <a:ext cx="983344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45273" y="7055361"/>
            <a:ext cx="2120730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WHERE?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71734" y="4879154"/>
            <a:ext cx="5884238" cy="821509"/>
            <a:chOff x="0" y="0"/>
            <a:chExt cx="2392331" cy="3339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92331" cy="333997"/>
            </a:xfrm>
            <a:custGeom>
              <a:avLst/>
              <a:gdLst/>
              <a:ahLst/>
              <a:cxnLst/>
              <a:rect r="r" b="b" t="t" l="l"/>
              <a:pathLst>
                <a:path h="333997" w="2392331">
                  <a:moveTo>
                    <a:pt x="203200" y="0"/>
                  </a:moveTo>
                  <a:lnTo>
                    <a:pt x="2392331" y="0"/>
                  </a:lnTo>
                  <a:lnTo>
                    <a:pt x="2189131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101600" y="-38100"/>
              <a:ext cx="2189131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39250" y="4879154"/>
            <a:ext cx="2918455" cy="821509"/>
            <a:chOff x="0" y="0"/>
            <a:chExt cx="1186544" cy="3339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86545" cy="333997"/>
            </a:xfrm>
            <a:custGeom>
              <a:avLst/>
              <a:gdLst/>
              <a:ahLst/>
              <a:cxnLst/>
              <a:rect r="r" b="b" t="t" l="l"/>
              <a:pathLst>
                <a:path h="333997" w="1186545">
                  <a:moveTo>
                    <a:pt x="203200" y="0"/>
                  </a:moveTo>
                  <a:lnTo>
                    <a:pt x="1186545" y="0"/>
                  </a:lnTo>
                  <a:lnTo>
                    <a:pt x="98334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101600" y="-38100"/>
              <a:ext cx="983344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52494" y="4914362"/>
            <a:ext cx="2120730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WHEN?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470312" y="6000595"/>
            <a:ext cx="5884238" cy="821509"/>
            <a:chOff x="0" y="0"/>
            <a:chExt cx="2392331" cy="33399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92331" cy="333997"/>
            </a:xfrm>
            <a:custGeom>
              <a:avLst/>
              <a:gdLst/>
              <a:ahLst/>
              <a:cxnLst/>
              <a:rect r="r" b="b" t="t" l="l"/>
              <a:pathLst>
                <a:path h="333997" w="2392331">
                  <a:moveTo>
                    <a:pt x="203200" y="0"/>
                  </a:moveTo>
                  <a:lnTo>
                    <a:pt x="2392331" y="0"/>
                  </a:lnTo>
                  <a:lnTo>
                    <a:pt x="2189131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101600" y="-38100"/>
              <a:ext cx="2189131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37828" y="6000595"/>
            <a:ext cx="2918455" cy="821509"/>
            <a:chOff x="0" y="0"/>
            <a:chExt cx="1186544" cy="3339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86545" cy="333997"/>
            </a:xfrm>
            <a:custGeom>
              <a:avLst/>
              <a:gdLst/>
              <a:ahLst/>
              <a:cxnLst/>
              <a:rect r="r" b="b" t="t" l="l"/>
              <a:pathLst>
                <a:path h="333997" w="1186545">
                  <a:moveTo>
                    <a:pt x="203200" y="0"/>
                  </a:moveTo>
                  <a:lnTo>
                    <a:pt x="1186545" y="0"/>
                  </a:lnTo>
                  <a:lnTo>
                    <a:pt x="98334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7" id="47"/>
            <p:cNvSpPr txBox="true"/>
            <p:nvPr/>
          </p:nvSpPr>
          <p:spPr>
            <a:xfrm>
              <a:off x="101600" y="-38100"/>
              <a:ext cx="983344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751073" y="6035803"/>
            <a:ext cx="2120730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WHY?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568890" y="7122036"/>
            <a:ext cx="5884238" cy="821509"/>
            <a:chOff x="0" y="0"/>
            <a:chExt cx="2392331" cy="3339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92331" cy="333997"/>
            </a:xfrm>
            <a:custGeom>
              <a:avLst/>
              <a:gdLst/>
              <a:ahLst/>
              <a:cxnLst/>
              <a:rect r="r" b="b" t="t" l="l"/>
              <a:pathLst>
                <a:path h="333997" w="2392331">
                  <a:moveTo>
                    <a:pt x="203200" y="0"/>
                  </a:moveTo>
                  <a:lnTo>
                    <a:pt x="2392331" y="0"/>
                  </a:lnTo>
                  <a:lnTo>
                    <a:pt x="2189131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101600" y="-38100"/>
              <a:ext cx="2189131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36407" y="7122036"/>
            <a:ext cx="2918455" cy="821509"/>
            <a:chOff x="0" y="0"/>
            <a:chExt cx="1186544" cy="3339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86545" cy="333997"/>
            </a:xfrm>
            <a:custGeom>
              <a:avLst/>
              <a:gdLst/>
              <a:ahLst/>
              <a:cxnLst/>
              <a:rect r="r" b="b" t="t" l="l"/>
              <a:pathLst>
                <a:path h="333997" w="1186545">
                  <a:moveTo>
                    <a:pt x="203200" y="0"/>
                  </a:moveTo>
                  <a:lnTo>
                    <a:pt x="1186545" y="0"/>
                  </a:lnTo>
                  <a:lnTo>
                    <a:pt x="98334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101600" y="-38100"/>
              <a:ext cx="983344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849651" y="7157245"/>
            <a:ext cx="2120730" cy="6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HOW?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851905" y="4959425"/>
            <a:ext cx="4412729" cy="472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10M Street Pushcart Vendors &amp; Urban Mohalla Households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950483" y="6080866"/>
            <a:ext cx="4412729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Ambient WhatsApp Voice Bot (Zero-Typing) + Live Thela Map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44377" y="7202308"/>
            <a:ext cx="4412729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Hyperlocal Indian Mohallas (1.5 km Geofence Delivery Radius)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157705" y="5081128"/>
            <a:ext cx="5098267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Real-Time On-Demand (sub-10m) &amp; 1-Day Advance Orders (7% Off)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371432" y="6182750"/>
            <a:ext cx="4412729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0% Vendor Fee vs 25% Dark-Store Cut + 100% Farm-Fresh Vegetables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545362" y="7304191"/>
            <a:ext cx="4412729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Spoken Voice Audio ➔ Gemini 2.5 Flash ➔ 30-Min Mohalla Batching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99245"/>
            <a:ext cx="18288000" cy="10087755"/>
          </a:xfrm>
          <a:custGeom>
            <a:avLst/>
            <a:gdLst/>
            <a:ahLst/>
            <a:cxnLst/>
            <a:rect r="r" b="b" t="t" l="l"/>
            <a:pathLst>
              <a:path h="10087755" w="18288000">
                <a:moveTo>
                  <a:pt x="0" y="0"/>
                </a:moveTo>
                <a:lnTo>
                  <a:pt x="18288000" y="0"/>
                </a:lnTo>
                <a:lnTo>
                  <a:pt x="18288000" y="10087755"/>
                </a:lnTo>
                <a:lnTo>
                  <a:pt x="0" y="10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9488" r="0" b="-10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-186889"/>
            <a:ext cx="16497482" cy="10144850"/>
          </a:xfrm>
          <a:custGeom>
            <a:avLst/>
            <a:gdLst/>
            <a:ahLst/>
            <a:cxnLst/>
            <a:rect r="r" b="b" t="t" l="l"/>
            <a:pathLst>
              <a:path h="10144850" w="16497482">
                <a:moveTo>
                  <a:pt x="0" y="0"/>
                </a:moveTo>
                <a:lnTo>
                  <a:pt x="16497482" y="0"/>
                </a:lnTo>
                <a:lnTo>
                  <a:pt x="16497482" y="10144851"/>
                </a:lnTo>
                <a:lnTo>
                  <a:pt x="0" y="10144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3067" r="0" b="-13067"/>
            </a:stretch>
          </a:blipFill>
          <a:ln cap="sq">
            <a:noFill/>
            <a:prstDash val="solid"/>
            <a:miter/>
          </a:ln>
        </p:spPr>
      </p:sp>
      <p:sp>
        <p:nvSpPr>
          <p:cNvPr id="9" name="Rounded Rectangle 8"/>
          <p:cNvSpPr/>
          <p:nvPr/>
        </p:nvSpPr>
        <p:spPr>
          <a:xfrm>
            <a:off x="1371600" y="731520"/>
            <a:ext cx="15544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SYSTEM ARCHITECTURE &amp; END-TO-END NAPKIN PIPELINE</a:t>
            </a:r>
          </a:p>
          <a:p>
            <a:pPr algn="ctr">
              <a:defRPr sz="1200" b="1">
                <a:solidFill>
                  <a:srgbClr val="DC2626"/>
                </a:solidFill>
              </a:defRPr>
            </a:pPr>
            <a:r>
              <a:t>Visual Process Blueprint: From Spoken Hindi Voice Note ➔ Gemini 2.5 AI ➔ 30-Min Mohalla Batching ➔ Doorstep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194560"/>
            <a:ext cx="329184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🎙️ VOICE INGESTION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Input Method: </a:t>
            </a:r>
            <a:r>
              <a:rPr sz="950">
                <a:solidFill>
                  <a:srgbClr val="334155"/>
                </a:solidFill>
              </a:rPr>
              <a:t>Continuous Web Speech API loop or WhatsApp Voice Note (.ogg).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Webhook Router: </a:t>
            </a:r>
            <a:r>
              <a:rPr sz="950">
                <a:solidFill>
                  <a:srgbClr val="334155"/>
                </a:solidFill>
              </a:rPr>
              <a:t>Meta Cloud API / Twilio with HMAC token verification.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Zero Typing: </a:t>
            </a:r>
            <a:r>
              <a:rPr sz="950">
                <a:solidFill>
                  <a:srgbClr val="334155"/>
                </a:solidFill>
              </a:rPr>
              <a:t>Vendor simply speaks in Hindi, Hinglish, or regional dialect.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73168" y="3931920"/>
            <a:ext cx="548640" cy="4572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0680" y="2194560"/>
            <a:ext cx="329184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🧠 GEMINI 2.5 FLASH AI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LLM Ingestion: </a:t>
            </a:r>
            <a:r>
              <a:rPr sz="950">
                <a:solidFill>
                  <a:srgbClr val="334155"/>
                </a:solidFill>
              </a:rPr>
              <a:t>Gemini 2.5 Flash API parses unstructured speech in 600ms.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Structured Output: </a:t>
            </a:r>
            <a:r>
              <a:rPr sz="950">
                <a:solidFill>
                  <a:srgbClr val="334155"/>
                </a:solidFill>
              </a:rPr>
              <a:t>Converts speech into JSON { name, price, unit }.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Vendor Safety: </a:t>
            </a:r>
            <a:r>
              <a:rPr sz="950">
                <a:solidFill>
                  <a:srgbClr val="334155"/>
                </a:solidFill>
              </a:rPr>
              <a:t>Vendor confirms with 1-tap 'Sahi Hai?' before saving to DB.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42248" y="3931920"/>
            <a:ext cx="548640" cy="4572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9760" y="2194560"/>
            <a:ext cx="329184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📦 30-MIN MOHALLA BATCH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Spatio-Temporal: </a:t>
            </a:r>
            <a:r>
              <a:rPr sz="950">
                <a:solidFill>
                  <a:srgbClr val="334155"/>
                </a:solidFill>
              </a:rPr>
              <a:t>Orders grouped within 1.5 km core delivery geofence.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Inventory Match: </a:t>
            </a:r>
            <a:r>
              <a:rPr sz="950">
                <a:solidFill>
                  <a:srgbClr val="334155"/>
                </a:solidFill>
              </a:rPr>
              <a:t>Greedy allocation matches 100% single-vendor carts.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Instant WhatsApp: </a:t>
            </a:r>
            <a:r>
              <a:rPr sz="950">
                <a:solidFill>
                  <a:srgbClr val="334155"/>
                </a:solidFill>
              </a:rPr>
              <a:t>Vendor receives interactive WhatsApp Accept/Reject buttons.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2911328" y="3931920"/>
            <a:ext cx="548640" cy="4572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578840" y="2194560"/>
            <a:ext cx="329184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STAGE 4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📍 OPEN MAP &amp; NEON DB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Zero-Cost Mapping: </a:t>
            </a:r>
            <a:r>
              <a:rPr sz="950">
                <a:solidFill>
                  <a:srgbClr val="334155"/>
                </a:solidFill>
              </a:rPr>
              <a:t>Leaflet + OpenStreetMap ($0 vs $580/1k Google Maps).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GPS Filtering: </a:t>
            </a:r>
            <a:r>
              <a:rPr sz="950">
                <a:solidFill>
                  <a:srgbClr val="334155"/>
                </a:solidFill>
              </a:rPr>
              <a:t>Dead-band Kalman filter eliminates telemetry jitter.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Persistence: </a:t>
            </a:r>
            <a:r>
              <a:rPr sz="950">
                <a:solidFill>
                  <a:srgbClr val="334155"/>
                </a:solidFill>
              </a:rPr>
              <a:t>Neon Serverless PostgreSQL (Prisma 6.4 ORM, B-Tree indexes).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6583680"/>
            <a:ext cx="484632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⚡ 600ms AI Turnaround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Google Gemini 2.5 Flash extracts JSON prices from voice notes in real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6583680"/>
            <a:ext cx="484632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💰 ₹0.0003 API Cost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Extremely low per-listing cost enables 100% free vendor onboarding forever.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6583680"/>
            <a:ext cx="484632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📉 94% OPEX Reduction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Zero paid Google Maps SDK keys. Completely powered by OpenStreetMap.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-1228665" y="1356742"/>
            <a:ext cx="20788437" cy="6878686"/>
            <a:chOff x="0" y="0"/>
            <a:chExt cx="4219162" cy="13960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19162" cy="1396079"/>
            </a:xfrm>
            <a:custGeom>
              <a:avLst/>
              <a:gdLst/>
              <a:ahLst/>
              <a:cxnLst/>
              <a:rect r="r" b="b" t="t" l="l"/>
              <a:pathLst>
                <a:path h="1396079" w="4219162">
                  <a:moveTo>
                    <a:pt x="203200" y="0"/>
                  </a:moveTo>
                  <a:lnTo>
                    <a:pt x="4219162" y="0"/>
                  </a:lnTo>
                  <a:lnTo>
                    <a:pt x="4015962" y="1396079"/>
                  </a:lnTo>
                  <a:lnTo>
                    <a:pt x="0" y="1396079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0" t="-53900" r="0" b="-5390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7306730"/>
            <a:ext cx="16230600" cy="2413883"/>
            <a:chOff x="0" y="0"/>
            <a:chExt cx="6598809" cy="981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8810" cy="981403"/>
            </a:xfrm>
            <a:custGeom>
              <a:avLst/>
              <a:gdLst/>
              <a:ahLst/>
              <a:cxnLst/>
              <a:rect r="r" b="b" t="t" l="l"/>
              <a:pathLst>
                <a:path h="981403" w="6598810">
                  <a:moveTo>
                    <a:pt x="203200" y="0"/>
                  </a:moveTo>
                  <a:lnTo>
                    <a:pt x="6598810" y="0"/>
                  </a:lnTo>
                  <a:lnTo>
                    <a:pt x="6395609" y="981403"/>
                  </a:lnTo>
                  <a:lnTo>
                    <a:pt x="0" y="98140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6395609" cy="101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6504" y="976907"/>
            <a:ext cx="7585513" cy="1866752"/>
            <a:chOff x="0" y="0"/>
            <a:chExt cx="3084011" cy="7589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4011" cy="758958"/>
            </a:xfrm>
            <a:custGeom>
              <a:avLst/>
              <a:gdLst/>
              <a:ahLst/>
              <a:cxnLst/>
              <a:rect r="r" b="b" t="t" l="l"/>
              <a:pathLst>
                <a:path h="758958" w="3084011">
                  <a:moveTo>
                    <a:pt x="203200" y="0"/>
                  </a:moveTo>
                  <a:lnTo>
                    <a:pt x="3084011" y="0"/>
                  </a:lnTo>
                  <a:lnTo>
                    <a:pt x="2880811" y="758958"/>
                  </a:lnTo>
                  <a:lnTo>
                    <a:pt x="0" y="75895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880811" cy="79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8285" y="752982"/>
            <a:ext cx="7727774" cy="1900920"/>
            <a:chOff x="0" y="0"/>
            <a:chExt cx="3141850" cy="7728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41850" cy="772849"/>
            </a:xfrm>
            <a:custGeom>
              <a:avLst/>
              <a:gdLst/>
              <a:ahLst/>
              <a:cxnLst/>
              <a:rect r="r" b="b" t="t" l="l"/>
              <a:pathLst>
                <a:path h="772849" w="3141850">
                  <a:moveTo>
                    <a:pt x="203200" y="0"/>
                  </a:moveTo>
                  <a:lnTo>
                    <a:pt x="3141850" y="0"/>
                  </a:lnTo>
                  <a:lnTo>
                    <a:pt x="2938650" y="772849"/>
                  </a:lnTo>
                  <a:lnTo>
                    <a:pt x="0" y="772849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2938650" cy="810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8469" y="815825"/>
            <a:ext cx="7345316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03"/>
              </a:lnSpc>
            </a:pPr>
            <a:r>
              <a:rPr lang="en-US" sz="9717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THE FUTURE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4423" y="7827872"/>
            <a:ext cx="14679153" cy="13716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>
                <a:solidFill>
                  <a:srgbClr val="0F172A"/>
                </a:solidFill>
              </a:rPr>
              <a:t>WEkreta transforms street commerce from an analog survival struggle into an ambient, highly profitable, phygital network — empowering 10 million vendors without displacing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560320"/>
            <a:ext cx="466344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PHASE 1 (LIVE NOW)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🚀 Phygital Mohalla MVP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WhatsApp Voice Ingestion: </a:t>
            </a:r>
            <a:r>
              <a:rPr sz="1000">
                <a:solidFill>
                  <a:srgbClr val="334155"/>
                </a:solidFill>
              </a:rPr>
              <a:t>Hands-free Hindi/Hinglish speech to catalog.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Live Moving Cart Map: </a:t>
            </a:r>
            <a:r>
              <a:rPr sz="1000">
                <a:solidFill>
                  <a:srgbClr val="334155"/>
                </a:solidFill>
              </a:rPr>
              <a:t>OpenStreetMap real-time GPS presence.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30-Min Mohalla Batching: </a:t>
            </a:r>
            <a:r>
              <a:rPr sz="1000">
                <a:solidFill>
                  <a:srgbClr val="334155"/>
                </a:solidFill>
              </a:rPr>
              <a:t>1.5 km core delivery clustering.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Calibrated Pricing: </a:t>
            </a:r>
            <a:r>
              <a:rPr sz="1000">
                <a:solidFill>
                  <a:srgbClr val="334155"/>
                </a:solidFill>
              </a:rPr>
              <a:t>5% flat convenience + 7% advance pre-order discount.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44768" y="4480560"/>
            <a:ext cx="548640" cy="4572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12280" y="2560320"/>
            <a:ext cx="466344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PHASE 2 (COMING SOON)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🥬 Mandi Bulk Wholesale Pooling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Cooperative Purchasing: </a:t>
            </a:r>
            <a:r>
              <a:rPr sz="1000">
                <a:solidFill>
                  <a:srgbClr val="334155"/>
                </a:solidFill>
              </a:rPr>
              <a:t>Pushcart vendors pool orders directly from Azadpur Mandi.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Eliminate Intermediaries: </a:t>
            </a:r>
            <a:r>
              <a:rPr sz="1000">
                <a:solidFill>
                  <a:srgbClr val="334155"/>
                </a:solidFill>
              </a:rPr>
              <a:t>Saves vendors 12-15% on wholesale vegetable procurement.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Price Prediction: </a:t>
            </a:r>
            <a:r>
              <a:rPr sz="1000">
                <a:solidFill>
                  <a:srgbClr val="334155"/>
                </a:solidFill>
              </a:rPr>
              <a:t>Gemini predicts evening mandi price drops.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Quality Assurance: </a:t>
            </a:r>
            <a:r>
              <a:rPr sz="1000">
                <a:solidFill>
                  <a:srgbClr val="334155"/>
                </a:solidFill>
              </a:rPr>
              <a:t>Direct farm-to-thela verified freshness grade.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1585448" y="4480560"/>
            <a:ext cx="548640" cy="4572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252960" y="2560320"/>
            <a:ext cx="466344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PHASE 3 (SCALE)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🏙️ 100,000 Pushcarts Across Bharat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Pan-India Expansion: </a:t>
            </a:r>
            <a:r>
              <a:rPr sz="1000">
                <a:solidFill>
                  <a:srgbClr val="334155"/>
                </a:solidFill>
              </a:rPr>
              <a:t>Tier 1 &amp; Tier 2 cities using PostGIS GiST spatial indexing.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Multilingual AI: </a:t>
            </a:r>
            <a:r>
              <a:rPr sz="1000">
                <a:solidFill>
                  <a:srgbClr val="334155"/>
                </a:solidFill>
              </a:rPr>
              <a:t>Voice support for Bhojpuri, Tamil, Bengali, Telugu &amp; Marathi.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Micro-Credit Scoring: </a:t>
            </a:r>
            <a:r>
              <a:rPr sz="1000">
                <a:solidFill>
                  <a:srgbClr val="334155"/>
                </a:solidFill>
              </a:rPr>
              <a:t>Verified digital order history unlocks collateral-free micro-loans.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Formal Economy Bridge: </a:t>
            </a:r>
            <a:r>
              <a:rPr sz="1000">
                <a:solidFill>
                  <a:srgbClr val="334155"/>
                </a:solidFill>
              </a:rPr>
              <a:t>Street vendors enter official banking &amp; UPI ecosystems.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-1863508" y="-92622"/>
            <a:ext cx="8070725" cy="10546535"/>
            <a:chOff x="0" y="0"/>
            <a:chExt cx="919297" cy="12013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9297" cy="1201305"/>
            </a:xfrm>
            <a:custGeom>
              <a:avLst/>
              <a:gdLst/>
              <a:ahLst/>
              <a:cxnLst/>
              <a:rect r="r" b="b" t="t" l="l"/>
              <a:pathLst>
                <a:path h="1201305" w="919297">
                  <a:moveTo>
                    <a:pt x="203200" y="0"/>
                  </a:moveTo>
                  <a:lnTo>
                    <a:pt x="919297" y="0"/>
                  </a:lnTo>
                  <a:lnTo>
                    <a:pt x="716097" y="1201305"/>
                  </a:lnTo>
                  <a:lnTo>
                    <a:pt x="0" y="120130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48252" t="0" r="-48252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043112" y="947043"/>
            <a:ext cx="4956721" cy="1866752"/>
            <a:chOff x="0" y="0"/>
            <a:chExt cx="2015234" cy="7589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5234" cy="758958"/>
            </a:xfrm>
            <a:custGeom>
              <a:avLst/>
              <a:gdLst/>
              <a:ahLst/>
              <a:cxnLst/>
              <a:rect r="r" b="b" t="t" l="l"/>
              <a:pathLst>
                <a:path h="758958" w="2015234">
                  <a:moveTo>
                    <a:pt x="203200" y="0"/>
                  </a:moveTo>
                  <a:lnTo>
                    <a:pt x="2015234" y="0"/>
                  </a:lnTo>
                  <a:lnTo>
                    <a:pt x="1812034" y="758958"/>
                  </a:lnTo>
                  <a:lnTo>
                    <a:pt x="0" y="75895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1812034" cy="79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24505" y="3852020"/>
            <a:ext cx="9472277" cy="821509"/>
            <a:chOff x="0" y="0"/>
            <a:chExt cx="3851105" cy="333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51105" cy="333997"/>
            </a:xfrm>
            <a:custGeom>
              <a:avLst/>
              <a:gdLst/>
              <a:ahLst/>
              <a:cxnLst/>
              <a:rect r="r" b="b" t="t" l="l"/>
              <a:pathLst>
                <a:path h="333997" w="3851105">
                  <a:moveTo>
                    <a:pt x="203200" y="0"/>
                  </a:moveTo>
                  <a:lnTo>
                    <a:pt x="3851105" y="0"/>
                  </a:lnTo>
                  <a:lnTo>
                    <a:pt x="364790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3647905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0866" y="3852020"/>
            <a:ext cx="4358722" cy="821509"/>
            <a:chOff x="0" y="0"/>
            <a:chExt cx="1772108" cy="3339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2108" cy="333997"/>
            </a:xfrm>
            <a:custGeom>
              <a:avLst/>
              <a:gdLst/>
              <a:ahLst/>
              <a:cxnLst/>
              <a:rect r="r" b="b" t="t" l="l"/>
              <a:pathLst>
                <a:path h="333997" w="1772108">
                  <a:moveTo>
                    <a:pt x="203200" y="0"/>
                  </a:moveTo>
                  <a:lnTo>
                    <a:pt x="1772108" y="0"/>
                  </a:lnTo>
                  <a:lnTo>
                    <a:pt x="1568908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1568908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24505" y="4998491"/>
            <a:ext cx="9472277" cy="821509"/>
            <a:chOff x="0" y="0"/>
            <a:chExt cx="3851105" cy="3339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51105" cy="333997"/>
            </a:xfrm>
            <a:custGeom>
              <a:avLst/>
              <a:gdLst/>
              <a:ahLst/>
              <a:cxnLst/>
              <a:rect r="r" b="b" t="t" l="l"/>
              <a:pathLst>
                <a:path h="333997" w="3851105">
                  <a:moveTo>
                    <a:pt x="203200" y="0"/>
                  </a:moveTo>
                  <a:lnTo>
                    <a:pt x="3851105" y="0"/>
                  </a:lnTo>
                  <a:lnTo>
                    <a:pt x="364790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38100"/>
              <a:ext cx="3647905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0866" y="4998491"/>
            <a:ext cx="4358722" cy="821509"/>
            <a:chOff x="0" y="0"/>
            <a:chExt cx="1772108" cy="3339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2108" cy="333997"/>
            </a:xfrm>
            <a:custGeom>
              <a:avLst/>
              <a:gdLst/>
              <a:ahLst/>
              <a:cxnLst/>
              <a:rect r="r" b="b" t="t" l="l"/>
              <a:pathLst>
                <a:path h="333997" w="1772108">
                  <a:moveTo>
                    <a:pt x="203200" y="0"/>
                  </a:moveTo>
                  <a:lnTo>
                    <a:pt x="1772108" y="0"/>
                  </a:lnTo>
                  <a:lnTo>
                    <a:pt x="1568908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1568908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24505" y="6144962"/>
            <a:ext cx="9472277" cy="821509"/>
            <a:chOff x="0" y="0"/>
            <a:chExt cx="3851105" cy="3339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51105" cy="333997"/>
            </a:xfrm>
            <a:custGeom>
              <a:avLst/>
              <a:gdLst/>
              <a:ahLst/>
              <a:cxnLst/>
              <a:rect r="r" b="b" t="t" l="l"/>
              <a:pathLst>
                <a:path h="333997" w="3851105">
                  <a:moveTo>
                    <a:pt x="203200" y="0"/>
                  </a:moveTo>
                  <a:lnTo>
                    <a:pt x="3851105" y="0"/>
                  </a:lnTo>
                  <a:lnTo>
                    <a:pt x="364790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3647905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00866" y="6144962"/>
            <a:ext cx="4266164" cy="821509"/>
            <a:chOff x="0" y="0"/>
            <a:chExt cx="1734477" cy="3339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34477" cy="333997"/>
            </a:xfrm>
            <a:custGeom>
              <a:avLst/>
              <a:gdLst/>
              <a:ahLst/>
              <a:cxnLst/>
              <a:rect r="r" b="b" t="t" l="l"/>
              <a:pathLst>
                <a:path h="333997" w="1734477">
                  <a:moveTo>
                    <a:pt x="203200" y="0"/>
                  </a:moveTo>
                  <a:lnTo>
                    <a:pt x="1734477" y="0"/>
                  </a:lnTo>
                  <a:lnTo>
                    <a:pt x="1531277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38100"/>
              <a:ext cx="1531277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24505" y="7291432"/>
            <a:ext cx="9472277" cy="821509"/>
            <a:chOff x="0" y="0"/>
            <a:chExt cx="3851105" cy="3339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51105" cy="333997"/>
            </a:xfrm>
            <a:custGeom>
              <a:avLst/>
              <a:gdLst/>
              <a:ahLst/>
              <a:cxnLst/>
              <a:rect r="r" b="b" t="t" l="l"/>
              <a:pathLst>
                <a:path h="333997" w="3851105">
                  <a:moveTo>
                    <a:pt x="203200" y="0"/>
                  </a:moveTo>
                  <a:lnTo>
                    <a:pt x="3851105" y="0"/>
                  </a:lnTo>
                  <a:lnTo>
                    <a:pt x="364790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38100"/>
              <a:ext cx="3647905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00866" y="7291432"/>
            <a:ext cx="4358722" cy="821509"/>
            <a:chOff x="0" y="0"/>
            <a:chExt cx="1772108" cy="3339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72108" cy="333997"/>
            </a:xfrm>
            <a:custGeom>
              <a:avLst/>
              <a:gdLst/>
              <a:ahLst/>
              <a:cxnLst/>
              <a:rect r="r" b="b" t="t" l="l"/>
              <a:pathLst>
                <a:path h="333997" w="1772108">
                  <a:moveTo>
                    <a:pt x="203200" y="0"/>
                  </a:moveTo>
                  <a:lnTo>
                    <a:pt x="1772108" y="0"/>
                  </a:lnTo>
                  <a:lnTo>
                    <a:pt x="1568908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38100"/>
              <a:ext cx="1568908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24505" y="8436791"/>
            <a:ext cx="9472277" cy="821509"/>
            <a:chOff x="0" y="0"/>
            <a:chExt cx="3851105" cy="3339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51105" cy="333997"/>
            </a:xfrm>
            <a:custGeom>
              <a:avLst/>
              <a:gdLst/>
              <a:ahLst/>
              <a:cxnLst/>
              <a:rect r="r" b="b" t="t" l="l"/>
              <a:pathLst>
                <a:path h="333997" w="3851105">
                  <a:moveTo>
                    <a:pt x="203200" y="0"/>
                  </a:moveTo>
                  <a:lnTo>
                    <a:pt x="3851105" y="0"/>
                  </a:lnTo>
                  <a:lnTo>
                    <a:pt x="3647905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3647905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200866" y="8436791"/>
            <a:ext cx="4358722" cy="821509"/>
            <a:chOff x="0" y="0"/>
            <a:chExt cx="1772108" cy="3339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72108" cy="333997"/>
            </a:xfrm>
            <a:custGeom>
              <a:avLst/>
              <a:gdLst/>
              <a:ahLst/>
              <a:cxnLst/>
              <a:rect r="r" b="b" t="t" l="l"/>
              <a:pathLst>
                <a:path h="333997" w="1772108">
                  <a:moveTo>
                    <a:pt x="203200" y="0"/>
                  </a:moveTo>
                  <a:lnTo>
                    <a:pt x="1772108" y="0"/>
                  </a:lnTo>
                  <a:lnTo>
                    <a:pt x="1568908" y="333997"/>
                  </a:lnTo>
                  <a:lnTo>
                    <a:pt x="0" y="33399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38100"/>
              <a:ext cx="1568908" cy="37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121590" y="1106645"/>
            <a:ext cx="4799765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03"/>
              </a:lnSpc>
            </a:pPr>
            <a:r>
              <a:rPr lang="en-US" sz="9717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IMPACT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57188" y="3887785"/>
            <a:ext cx="3167317" cy="68441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674"/>
              </a:lnSpc>
            </a:pPr>
            <a:r>
              <a:rPr sz="1300" b="1">
                <a:solidFill>
                  <a:srgbClr val="0F172A"/>
                </a:solidFill>
              </a:rPr>
              <a:t>INCOME BOOST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74708" y="4034175"/>
            <a:ext cx="7769443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+35% to 40% Daily Income jump by eliminating 2.5 hours of dead-mileage roaming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657188" y="5034255"/>
            <a:ext cx="3167317" cy="68441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674"/>
              </a:lnSpc>
            </a:pPr>
            <a:r>
              <a:rPr sz="1300" b="1">
                <a:solidFill>
                  <a:srgbClr val="0F172A"/>
                </a:solidFill>
              </a:rPr>
              <a:t>CALIBRATED PRICING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62382" y="5180645"/>
            <a:ext cx="7499968" cy="472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5% flat convenience fee + 7% early-bird discount for 1-day advance morning pre-orders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962382" y="6327116"/>
            <a:ext cx="7499968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Predictable morning procurement reduces vegetable inventory spoilage to under 3%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57188" y="7327197"/>
            <a:ext cx="3167317" cy="68441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674"/>
              </a:lnSpc>
            </a:pPr>
            <a:r>
              <a:rPr sz="1300" b="1">
                <a:solidFill>
                  <a:srgbClr val="0F172A"/>
                </a:solidFill>
              </a:rPr>
              <a:t>ZERO PLATFORM CUT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74708" y="7493406"/>
            <a:ext cx="7856141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₹0 daily vendor listing fee — small pushcart vendors retain 100% of their street margins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57188" y="8472555"/>
            <a:ext cx="3167317" cy="140511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674"/>
              </a:lnSpc>
            </a:pPr>
            <a:r>
              <a:rPr sz="1300" b="1">
                <a:solidFill>
                  <a:srgbClr val="0F172A"/>
                </a:solidFill>
              </a:rPr>
              <a:t>ZERO EMISSIONS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75924" y="8638765"/>
            <a:ext cx="7856141" cy="457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1300" b="1">
                <a:solidFill>
                  <a:srgbClr val="0F172A"/>
                </a:solidFill>
              </a:rPr>
              <a:t>Local pushcarts &amp; cycle-rickshaws replace polluting diesel vans for last-500m deliveries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474720"/>
            <a:ext cx="3474720" cy="5943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🎯 UNIT ECONOMICS FLASH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Avg Order Value: </a:t>
            </a:r>
            <a:r>
              <a:rPr b="1" sz="1100">
                <a:solidFill>
                  <a:srgbClr val="DC2626"/>
                </a:solidFill>
              </a:rPr>
              <a:t>₹300 Cart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Gross Take Rate: </a:t>
            </a:r>
            <a:r>
              <a:rPr b="1" sz="1100">
                <a:solidFill>
                  <a:srgbClr val="DC2626"/>
                </a:solidFill>
              </a:rPr>
              <a:t>5% (₹15/Order)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Software Tech Cost: </a:t>
            </a:r>
            <a:r>
              <a:rPr b="1" sz="1100">
                <a:solidFill>
                  <a:srgbClr val="DC2626"/>
                </a:solidFill>
              </a:rPr>
              <a:t>₹0.0003 (Gemini)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Software Margin: </a:t>
            </a:r>
            <a:r>
              <a:rPr b="1" sz="1100">
                <a:solidFill>
                  <a:srgbClr val="DC2626"/>
                </a:solidFill>
              </a:rPr>
              <a:t>99.8% Gross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Vendor Fee: </a:t>
            </a:r>
            <a:r>
              <a:rPr b="1" sz="1100">
                <a:solidFill>
                  <a:srgbClr val="DC2626"/>
                </a:solidFill>
              </a:rPr>
              <a:t>₹0 Forever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Delivery Radius: </a:t>
            </a:r>
            <a:r>
              <a:rPr b="1" sz="1100">
                <a:solidFill>
                  <a:srgbClr val="DC2626"/>
                </a:solidFill>
              </a:rPr>
              <a:t>1.5 km Geofence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▸ Customer Saving: </a:t>
            </a:r>
            <a:r>
              <a:rPr b="1" sz="1100">
                <a:solidFill>
                  <a:srgbClr val="DC2626"/>
                </a:solidFill>
              </a:rPr>
              <a:t>20-30% vs Zepto</a:t>
            </a:r>
          </a:p>
        </p:txBody>
      </p:sp>
      <p:pic>
        <p:nvPicPr>
          <p:cNvPr id="53" name="Picture 52" descr="WEkre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8046720"/>
            <a:ext cx="310896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93020" y="6166478"/>
            <a:ext cx="3554135" cy="3554135"/>
          </a:xfrm>
          <a:custGeom>
            <a:avLst/>
            <a:gdLst/>
            <a:ahLst/>
            <a:cxnLst/>
            <a:rect r="r" b="b" t="t" l="l"/>
            <a:pathLst>
              <a:path h="3554135" w="3554135">
                <a:moveTo>
                  <a:pt x="0" y="0"/>
                </a:moveTo>
                <a:lnTo>
                  <a:pt x="3554135" y="0"/>
                </a:lnTo>
                <a:lnTo>
                  <a:pt x="3554135" y="3554135"/>
                </a:lnTo>
                <a:lnTo>
                  <a:pt x="0" y="355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0" y="5532120"/>
            <a:ext cx="18288000" cy="4754880"/>
          </a:xfrm>
          <a:custGeom>
            <a:avLst/>
            <a:gdLst/>
            <a:ahLst/>
            <a:cxnLst/>
            <a:rect r="r" b="b" t="t" l="l"/>
            <a:pathLst>
              <a:path h="4754880" w="18288000">
                <a:moveTo>
                  <a:pt x="0" y="0"/>
                </a:moveTo>
                <a:lnTo>
                  <a:pt x="18288000" y="0"/>
                </a:lnTo>
                <a:lnTo>
                  <a:pt x="18288000" y="4754880"/>
                </a:lnTo>
                <a:lnTo>
                  <a:pt x="0" y="4754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2357608" y="8728363"/>
            <a:ext cx="9471479" cy="672812"/>
            <a:chOff x="0" y="0"/>
            <a:chExt cx="4385666" cy="311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5666" cy="311538"/>
            </a:xfrm>
            <a:custGeom>
              <a:avLst/>
              <a:gdLst/>
              <a:ahLst/>
              <a:cxnLst/>
              <a:rect r="r" b="b" t="t" l="l"/>
              <a:pathLst>
                <a:path h="311538" w="4385666">
                  <a:moveTo>
                    <a:pt x="203200" y="0"/>
                  </a:moveTo>
                  <a:lnTo>
                    <a:pt x="4385666" y="0"/>
                  </a:lnTo>
                  <a:lnTo>
                    <a:pt x="4182466" y="311538"/>
                  </a:lnTo>
                  <a:lnTo>
                    <a:pt x="0" y="3115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000">
                    <a:alpha val="50000"/>
                  </a:srgbClr>
                </a:gs>
                <a:gs pos="50000">
                  <a:srgbClr val="FF0000">
                    <a:alpha val="50000"/>
                  </a:srgbClr>
                </a:gs>
                <a:gs pos="100000">
                  <a:srgbClr val="2200F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182466" cy="34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-197157" y="-186889"/>
            <a:ext cx="18485157" cy="4806141"/>
          </a:xfrm>
          <a:custGeom>
            <a:avLst/>
            <a:gdLst/>
            <a:ahLst/>
            <a:cxnLst/>
            <a:rect r="r" b="b" t="t" l="l"/>
            <a:pathLst>
              <a:path h="4806141" w="18485157">
                <a:moveTo>
                  <a:pt x="0" y="4806141"/>
                </a:moveTo>
                <a:lnTo>
                  <a:pt x="18485157" y="4806141"/>
                </a:lnTo>
                <a:lnTo>
                  <a:pt x="18485157" y="0"/>
                </a:lnTo>
                <a:lnTo>
                  <a:pt x="0" y="0"/>
                </a:lnTo>
                <a:lnTo>
                  <a:pt x="0" y="480614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-10800000">
            <a:off x="8513051" y="893929"/>
            <a:ext cx="9471479" cy="672812"/>
            <a:chOff x="0" y="0"/>
            <a:chExt cx="4385666" cy="3115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5666" cy="311538"/>
            </a:xfrm>
            <a:custGeom>
              <a:avLst/>
              <a:gdLst/>
              <a:ahLst/>
              <a:cxnLst/>
              <a:rect r="r" b="b" t="t" l="l"/>
              <a:pathLst>
                <a:path h="311538" w="4385666">
                  <a:moveTo>
                    <a:pt x="203200" y="0"/>
                  </a:moveTo>
                  <a:lnTo>
                    <a:pt x="4385666" y="0"/>
                  </a:lnTo>
                  <a:lnTo>
                    <a:pt x="4182466" y="311538"/>
                  </a:lnTo>
                  <a:lnTo>
                    <a:pt x="0" y="3115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000">
                    <a:alpha val="50000"/>
                  </a:srgbClr>
                </a:gs>
                <a:gs pos="50000">
                  <a:srgbClr val="FF0000">
                    <a:alpha val="50000"/>
                  </a:srgbClr>
                </a:gs>
                <a:gs pos="100000">
                  <a:srgbClr val="2200F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4182466" cy="34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0">
            <a:off x="14877122" y="369377"/>
            <a:ext cx="2857887" cy="2857887"/>
          </a:xfrm>
          <a:custGeom>
            <a:avLst/>
            <a:gdLst/>
            <a:ahLst/>
            <a:cxnLst/>
            <a:rect r="r" b="b" t="t" l="l"/>
            <a:pathLst>
              <a:path h="2857887" w="2857887">
                <a:moveTo>
                  <a:pt x="2857887" y="2857887"/>
                </a:moveTo>
                <a:lnTo>
                  <a:pt x="0" y="2857887"/>
                </a:lnTo>
                <a:lnTo>
                  <a:pt x="0" y="0"/>
                </a:lnTo>
                <a:lnTo>
                  <a:pt x="2857887" y="0"/>
                </a:lnTo>
                <a:lnTo>
                  <a:pt x="2857887" y="28578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2713547" y="3992575"/>
            <a:ext cx="13675794" cy="2615602"/>
            <a:chOff x="0" y="0"/>
            <a:chExt cx="3601855" cy="6888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01855" cy="688883"/>
            </a:xfrm>
            <a:custGeom>
              <a:avLst/>
              <a:gdLst/>
              <a:ahLst/>
              <a:cxnLst/>
              <a:rect r="r" b="b" t="t" l="l"/>
              <a:pathLst>
                <a:path h="688883" w="3601855">
                  <a:moveTo>
                    <a:pt x="203200" y="0"/>
                  </a:moveTo>
                  <a:lnTo>
                    <a:pt x="3601855" y="0"/>
                  </a:lnTo>
                  <a:lnTo>
                    <a:pt x="3398655" y="688883"/>
                  </a:lnTo>
                  <a:lnTo>
                    <a:pt x="0" y="68888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3398655" cy="72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48008" y="3678823"/>
            <a:ext cx="13932273" cy="2663477"/>
            <a:chOff x="0" y="0"/>
            <a:chExt cx="3669405" cy="7014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69405" cy="701492"/>
            </a:xfrm>
            <a:custGeom>
              <a:avLst/>
              <a:gdLst/>
              <a:ahLst/>
              <a:cxnLst/>
              <a:rect r="r" b="b" t="t" l="l"/>
              <a:pathLst>
                <a:path h="701492" w="3669405">
                  <a:moveTo>
                    <a:pt x="203200" y="0"/>
                  </a:moveTo>
                  <a:lnTo>
                    <a:pt x="3669405" y="0"/>
                  </a:lnTo>
                  <a:lnTo>
                    <a:pt x="3466205" y="701492"/>
                  </a:lnTo>
                  <a:lnTo>
                    <a:pt x="0" y="70149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F0F">
                    <a:alpha val="100000"/>
                  </a:srgbClr>
                </a:gs>
                <a:gs pos="100000">
                  <a:srgbClr val="92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3466205" cy="739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997688" y="3459748"/>
            <a:ext cx="12929350" cy="25812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1000"/>
              </a:lnSpc>
            </a:pPr>
            <a:r>
              <a:rPr sz="5200" b="1">
                <a:solidFill>
                  <a:srgbClr val="FFFFFF"/>
                </a:solidFill>
              </a:rPr>
              <a:t>WEKRETA: THE PHYGITAL FUTURE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3020" y="3319763"/>
            <a:ext cx="11649863" cy="672812"/>
            <a:chOff x="0" y="0"/>
            <a:chExt cx="5394343" cy="3115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94343" cy="311538"/>
            </a:xfrm>
            <a:custGeom>
              <a:avLst/>
              <a:gdLst/>
              <a:ahLst/>
              <a:cxnLst/>
              <a:rect r="r" b="b" t="t" l="l"/>
              <a:pathLst>
                <a:path h="311538" w="5394343">
                  <a:moveTo>
                    <a:pt x="203200" y="0"/>
                  </a:moveTo>
                  <a:lnTo>
                    <a:pt x="5394343" y="0"/>
                  </a:lnTo>
                  <a:lnTo>
                    <a:pt x="5191143" y="311538"/>
                  </a:lnTo>
                  <a:lnTo>
                    <a:pt x="0" y="3115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0000">
                    <a:alpha val="50000"/>
                  </a:srgbClr>
                </a:gs>
                <a:gs pos="50000">
                  <a:srgbClr val="FF0000">
                    <a:alpha val="50000"/>
                  </a:srgbClr>
                </a:gs>
                <a:gs pos="100000">
                  <a:srgbClr val="2200F1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5191143" cy="34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47155" y="6166478"/>
            <a:ext cx="10303357" cy="756498"/>
            <a:chOff x="0" y="0"/>
            <a:chExt cx="3717398" cy="27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17398" cy="272940"/>
            </a:xfrm>
            <a:custGeom>
              <a:avLst/>
              <a:gdLst/>
              <a:ahLst/>
              <a:cxnLst/>
              <a:rect r="r" b="b" t="t" l="l"/>
              <a:pathLst>
                <a:path h="272940" w="3717398">
                  <a:moveTo>
                    <a:pt x="203200" y="0"/>
                  </a:moveTo>
                  <a:lnTo>
                    <a:pt x="3717398" y="0"/>
                  </a:lnTo>
                  <a:lnTo>
                    <a:pt x="3514198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3514198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28700" y="1034868"/>
            <a:ext cx="323763" cy="505879"/>
          </a:xfrm>
          <a:custGeom>
            <a:avLst/>
            <a:gdLst/>
            <a:ahLst/>
            <a:cxnLst/>
            <a:rect r="r" b="b" t="t" l="l"/>
            <a:pathLst>
              <a:path h="505879" w="323763">
                <a:moveTo>
                  <a:pt x="0" y="0"/>
                </a:moveTo>
                <a:lnTo>
                  <a:pt x="323763" y="0"/>
                </a:lnTo>
                <a:lnTo>
                  <a:pt x="323763" y="505879"/>
                </a:lnTo>
                <a:lnTo>
                  <a:pt x="0" y="505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7" id="27"/>
          <p:cNvSpPr txBox="true"/>
          <p:nvPr/>
        </p:nvSpPr>
        <p:spPr>
          <a:xfrm rot="0">
            <a:off x="4255095" y="6169180"/>
            <a:ext cx="9995417" cy="68441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674"/>
              </a:lnSpc>
            </a:pPr>
            <a:r>
              <a:rPr sz="5200" b="1">
                <a:solidFill>
                  <a:srgbClr val="FFFFFF"/>
                </a:solidFill>
              </a:rPr>
              <a:t>WEKRETA: THE PHYGITAL FUTURE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48008" y="1039394"/>
            <a:ext cx="2313993" cy="514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1600">
                <a:solidFill>
                  <a:srgbClr val="FFFFFF"/>
                </a:solidFill>
              </a:rPr>
              <a:t>WEkreta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2738" y="8780678"/>
            <a:ext cx="5788834" cy="52055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82"/>
              </a:lnSpc>
            </a:pPr>
            <a:r>
              <a:rPr sz="1500">
                <a:solidFill>
                  <a:srgbClr val="FFFFFF"/>
                </a:solidFill>
              </a:rPr>
              <a:t>team.wekreta@gdghack.dev | GDG Hackathon 2026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52463" y="1047865"/>
            <a:ext cx="323763" cy="505879"/>
          </a:xfrm>
          <a:custGeom>
            <a:avLst/>
            <a:gdLst/>
            <a:ahLst/>
            <a:cxnLst/>
            <a:rect r="r" b="b" t="t" l="l"/>
            <a:pathLst>
              <a:path h="505879" w="323763">
                <a:moveTo>
                  <a:pt x="0" y="0"/>
                </a:moveTo>
                <a:lnTo>
                  <a:pt x="323762" y="0"/>
                </a:lnTo>
                <a:lnTo>
                  <a:pt x="323762" y="505879"/>
                </a:lnTo>
                <a:lnTo>
                  <a:pt x="0" y="505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1676225" y="1060862"/>
            <a:ext cx="323763" cy="505879"/>
          </a:xfrm>
          <a:custGeom>
            <a:avLst/>
            <a:gdLst/>
            <a:ahLst/>
            <a:cxnLst/>
            <a:rect r="r" b="b" t="t" l="l"/>
            <a:pathLst>
              <a:path h="505879" w="323763">
                <a:moveTo>
                  <a:pt x="0" y="0"/>
                </a:moveTo>
                <a:lnTo>
                  <a:pt x="323763" y="0"/>
                </a:lnTo>
                <a:lnTo>
                  <a:pt x="323763" y="505879"/>
                </a:lnTo>
                <a:lnTo>
                  <a:pt x="0" y="505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0" y="2849015"/>
            <a:ext cx="1600789" cy="756498"/>
            <a:chOff x="0" y="0"/>
            <a:chExt cx="577556" cy="27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7098" y="2849015"/>
            <a:ext cx="1600789" cy="756498"/>
            <a:chOff x="0" y="0"/>
            <a:chExt cx="577556" cy="2729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927038" y="568646"/>
            <a:ext cx="1600789" cy="756498"/>
            <a:chOff x="0" y="0"/>
            <a:chExt cx="577556" cy="2729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84135" y="568646"/>
            <a:ext cx="1600789" cy="756498"/>
            <a:chOff x="0" y="0"/>
            <a:chExt cx="577556" cy="2729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6E8FF">
                    <a:alpha val="11000"/>
                  </a:srgbClr>
                </a:gs>
              </a:gsLst>
              <a:lin ang="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579492" y="568646"/>
            <a:ext cx="1600789" cy="756498"/>
            <a:chOff x="0" y="0"/>
            <a:chExt cx="577556" cy="27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7556" cy="272940"/>
            </a:xfrm>
            <a:custGeom>
              <a:avLst/>
              <a:gdLst/>
              <a:ahLst/>
              <a:cxnLst/>
              <a:rect r="r" b="b" t="t" l="l"/>
              <a:pathLst>
                <a:path h="272940" w="577556">
                  <a:moveTo>
                    <a:pt x="203200" y="0"/>
                  </a:moveTo>
                  <a:lnTo>
                    <a:pt x="577556" y="0"/>
                  </a:lnTo>
                  <a:lnTo>
                    <a:pt x="374356" y="272940"/>
                  </a:lnTo>
                  <a:lnTo>
                    <a:pt x="0" y="2729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01600" y="-38100"/>
              <a:ext cx="374356" cy="31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2286000" y="6949440"/>
            <a:ext cx="137160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🐧 HACKATHON BLOOPER OF THE YEAR: "Antarctica Me Dhaniya Bechta Thela"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A missing noWrap: true on Leaflet tiles caused a coordinate overflow that flung Ramesh Bhaiya's cart 12,450 km away to Antarctica (-75° S) to sell vegetables to penguins! We fixed it with noWrap: true and strict Delhi geofence locking.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🚀 LIVE SYSTEM DEMO: http://localhost:3000 | WhatsApp Bot Simulator: /whatsapp | GitHub: anurag-maurya-ece/gdghack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DAHYUals9CQ</dc:identifier>
  <dcterms:modified xsi:type="dcterms:W3CDTF">2011-08-01T06:04:30Z</dcterms:modified>
  <cp:revision>1</cp:revision>
  <dc:title>Blue and Red Dynamic News Report Presentation</dc:title>
</cp:coreProperties>
</file>